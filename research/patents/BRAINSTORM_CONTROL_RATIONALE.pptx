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e7f00358004f1a" /><Relationship Type="http://schemas.openxmlformats.org/officeDocument/2006/relationships/extended-properties" Target="/docProps/app.xml" Id="R5bd8594309f74b6a" /><Relationship Type="http://schemas.openxmlformats.org/officeDocument/2006/relationships/officeDocument" Target="/ppt/presentation.xml" Id="Ra720b7eb2b3d42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19853e15f146eb"/>
  </p:sldMasterIdLst>
  <p:notesMasterIdLst>
    <p:notesMasterId xmlns:r="http://schemas.openxmlformats.org/officeDocument/2006/relationships" r:id="R29aca3fc05794e5c"/>
  </p:notesMasterIdLst>
  <p:sldIdLst>
    <p:sldId xmlns:r="http://schemas.openxmlformats.org/officeDocument/2006/relationships" id="256" r:id="R2225b1112a0f454a"/>
    <p:sldId xmlns:r="http://schemas.openxmlformats.org/officeDocument/2006/relationships" id="257" r:id="R301314ddeb604bff"/>
    <p:sldId xmlns:r="http://schemas.openxmlformats.org/officeDocument/2006/relationships" id="258" r:id="Rfd0d718f526149aa"/>
    <p:sldId xmlns:r="http://schemas.openxmlformats.org/officeDocument/2006/relationships" id="259" r:id="R2323f7c735334dbc"/>
    <p:sldId xmlns:r="http://schemas.openxmlformats.org/officeDocument/2006/relationships" id="260" r:id="R52d2ec9de63946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cf99f8ca714f89" /><Relationship Type="http://schemas.openxmlformats.org/officeDocument/2006/relationships/slideMaster" Target="/ppt/slideMasters/slideMaster1.xml" Id="R7c19853e15f146eb" /><Relationship Type="http://schemas.openxmlformats.org/officeDocument/2006/relationships/notesMaster" Target="/ppt/notesMasters/notesMaster1.xml" Id="R29aca3fc05794e5c" /><Relationship Type="http://schemas.openxmlformats.org/officeDocument/2006/relationships/presProps" Target="/ppt/presProps.xml" Id="Rb668fe9ed8b546ca" /><Relationship Type="http://schemas.openxmlformats.org/officeDocument/2006/relationships/tableStyles" Target="/ppt/tableStyles.xml" Id="R200505e45e2a49e8" /><Relationship Type="http://schemas.openxmlformats.org/officeDocument/2006/relationships/slide" Target="/ppt/slides/slide1.xml" Id="R2225b1112a0f454a" /><Relationship Type="http://schemas.openxmlformats.org/officeDocument/2006/relationships/slide" Target="/ppt/slides/slide2.xml" Id="R301314ddeb604bff" /><Relationship Type="http://schemas.openxmlformats.org/officeDocument/2006/relationships/slide" Target="/ppt/slides/slide3.xml" Id="Rfd0d718f526149aa" /><Relationship Type="http://schemas.openxmlformats.org/officeDocument/2006/relationships/slide" Target="/ppt/slides/slide4.xml" Id="R2323f7c735334dbc" /><Relationship Type="http://schemas.openxmlformats.org/officeDocument/2006/relationships/slide" Target="/ppt/slides/slide5.xml" Id="R52d2ec9de63946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0449e2333747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3067dca69c4c88" /><Relationship Type="http://schemas.openxmlformats.org/officeDocument/2006/relationships/notesMaster" Target="/ppt/notesMasters/notesMaster1.xml" Id="Rdbc83da504de43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049bbd199e4d68" /><Relationship Type="http://schemas.openxmlformats.org/officeDocument/2006/relationships/notesMaster" Target="/ppt/notesMasters/notesMaster1.xml" Id="R77974084141c41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5a6fa9de584ea0" /><Relationship Type="http://schemas.openxmlformats.org/officeDocument/2006/relationships/notesMaster" Target="/ppt/notesMasters/notesMaster1.xml" Id="R6fef19e472444d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fdbf1af0c84765" /><Relationship Type="http://schemas.openxmlformats.org/officeDocument/2006/relationships/notesMaster" Target="/ppt/notesMasters/notesMaster1.xml" Id="R02b35460a02a49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0e71ff79c44f1b" /><Relationship Type="http://schemas.openxmlformats.org/officeDocument/2006/relationships/notesMaster" Target="/ppt/notesMasters/notesMaster1.xml" Id="R82f2ab3fc51b49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操作理由から判断条件を学び、次回の質問に反映する監視制御システム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出願検討資料｜2026年10月19日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1．何を実現するか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提案手法は、運転員に操作理由を聞き、回答から判断に使った項目と条件を得る。次回の操作では、その条件と今回の状態を比べて理由を聞くかを判断する。新しい回答を得たら、判断条件を補い、以後の質問判断に反映する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設備の監視システムには、測定値や操作履歴が残る。しかし、それだけでは「運転員が何を見て、なぜ操作したか」までは分からない。理由を毎回聞けば判断の知識を集められるが、同じ説明を繰り返す負担が生じ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案手法では、理由を聞いた結果によって、次回の質問の仕方を変える。既に理由を聞いた条件に当てはまる場合は質問を減らし、条件が異なる場合や情報が足りない場合は理由を聞く。回答から新しい判断材料を得たら、次回から確認する項目や条件も変え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案手法は、操作・理由・判断条件を暗黙知DBに保存する。操作履歴・監視データと関連付け、回答から得た条件を追加・補完する。アイデアの中心は、回答から得た条件を使って次回の質問判断を変え、新たな回答でさらに条件を更新する処理にある。暗黙知DBは、この処理を支える保存部品として使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2．PAC増量での例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PACは、水中の汚れを集める凝集剤である。運転員がPACの注入量を増やしたとき、システムが理由を尋ねる。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場面 | 提案手法の動作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運転員がPACを増量する | 操作履歴から増量を検出し、暗黙知DBを確認する。理由が未登録なら「今回、PACを増やした理由は何ですか」と聞く。 |</a:t>
            </a:r>
          </a:p>
          <a:p xmlns:a="http://schemas.openxmlformats.org/drawingml/2006/main">
            <a:r>
              <a:t>| 運転員が「原水の濁りが強く、水温も低かったから」と回答する | 「PAC増量」という操作に、理由・確認項目・「濁度が高い、かつ水温が低い」という条件を関連付けてDBへ保存する。 |</a:t>
            </a:r>
          </a:p>
          <a:p xmlns:a="http://schemas.openxmlformats.org/drawingml/2006/main">
            <a:r>
              <a:t>| 後日、運転員が別の条件でPACを増量する | DBの条件だけでは今回の理由が分からないため、運転員に聞く。 |</a:t>
            </a:r>
          </a:p>
          <a:p xmlns:a="http://schemas.openxmlformats.org/drawingml/2006/main">
            <a:r>
              <a:t>| 回答から別の理由を得る | 新たな条件と理由をDBへ追加する。以前の条件と理由も残す。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「高い」「低い」の区分には施設の既存基準を使う。基準が分からない場合は確認し、システムが勝手に閾値を決めない。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3．暗黙知DBには何を保存するか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まず、どの設備で、何の設定を、どちらの方向に変えたかを操作履歴から確認する。例えば「A系列のPAC注入量を増やした操作」を、別系列の操作や減量操作と分けて扱う。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提案手法は、運転員の回答から、判断に使った監視項目とその条件を取り出し、操作・理由と結び付けて暗黙知DBに保存する。これにより、測定値の履歴だけでは把握できない「判断のつながり」を補う。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&lt;!-- figure:acquisition --&gt;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```mermaid</a:t>
            </a:r>
          </a:p>
          <a:p xmlns:a="http://schemas.openxmlformats.org/drawingml/2006/main">
            <a:r>
              <a:t>flowchart LR</a:t>
            </a:r>
          </a:p>
          <a:p xmlns:a="http://schemas.openxmlformats.org/drawingml/2006/main">
            <a:r>
              <a:t>    A[操作の理由を聞く] --&gt; B[回答から項目と条件を取り出す]</a:t>
            </a:r>
          </a:p>
          <a:p xmlns:a="http://schemas.openxmlformats.org/drawingml/2006/main">
            <a:r>
              <a:t>    B --&gt; C[暗黙知DBの判断条件を補う]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保存する情報 | 具体例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どの操作か | A系列のPAC注入量を増やす操作 |</a:t>
            </a:r>
          </a:p>
          <a:p xmlns:a="http://schemas.openxmlformats.org/drawingml/2006/main">
            <a:r>
              <a:t>| 運転員の回答 | 「原水の濁りが強く、水温も低かったから」 |</a:t>
            </a:r>
          </a:p>
          <a:p xmlns:a="http://schemas.openxmlformats.org/drawingml/2006/main">
            <a:r>
              <a:t>| 判断に使った項目 | A系列の原水濁度、水温 |</a:t>
            </a:r>
          </a:p>
          <a:p xmlns:a="http://schemas.openxmlformats.org/drawingml/2006/main">
            <a:r>
              <a:t>| 回答から得た判断条件 | 施設の基準で、原水濁度が「高い」、かつ水温が「低い」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えば、最初の回答が「濁りが強かったから」なら、まず濁度について保存する。その後の回答から「水温が低いことも判断に関係する」と確認したら、その説明がどの操作・条件に当てはまるかを確認して補う。別の理由で増量した事例は、別の条件として追加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回答の言葉は、実際の測定項目に対応付ける。例えば「原水の濁り」は、原水濁度の測定値に対応させる。項目名の辞書やLLMで候補を出し、施設にその測定項目があるかを確認する。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「濁度と水温を見た」としか分からない場合は、どんな状態だったかを追加で聞く。条件が決まるまでは、質問を減らす根拠に使わない。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新しい回答は、以前の回答を残したまま追加する。目視で確認した汚れの固まりなど、測定値に結び付けられない理由も保存するが、自動で質問を減らす判定には使わない。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4．学んだ条件を使い、次回の質問を判断する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案手法は、同じ設備で同じ設定を同じ方向に変えた操作を検出すると、暗黙知DBから、その操作に関連する理由と条件を取り出す。操作時点の測定値と比べ、登録済みの条件に当てはまるかを確認する。未登録の状況や条件が不明な場合は理由を聞き、回答でDBを補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&lt;!-- figure:runtime --&gt;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```mermaid</a:t>
            </a:r>
          </a:p>
          <a:p xmlns:a="http://schemas.openxmlformats.org/drawingml/2006/main">
            <a:r>
              <a:t>flowchart TD</a:t>
            </a:r>
          </a:p>
          <a:p xmlns:a="http://schemas.openxmlformats.org/drawingml/2006/main">
            <a:r>
              <a:t>    A[同じ種類の操作を検出] --&gt; B[必要な測定値を確認]</a:t>
            </a:r>
          </a:p>
          <a:p xmlns:a="http://schemas.openxmlformats.org/drawingml/2006/main">
            <a:r>
              <a:t>    B --&gt; C{DBの判断条件に当てはまるか}</a:t>
            </a:r>
          </a:p>
          <a:p xmlns:a="http://schemas.openxmlformats.org/drawingml/2006/main">
            <a:r>
              <a:t>    C --&gt;|はい| D[質問する回数を減らす]</a:t>
            </a:r>
          </a:p>
          <a:p xmlns:a="http://schemas.openxmlformats.org/drawingml/2006/main">
            <a:r>
              <a:t>    C --&gt;|いいえ・値が不明| E[今回の理由を聞く]</a:t>
            </a:r>
          </a:p>
          <a:p xmlns:a="http://schemas.openxmlformats.org/drawingml/2006/main">
            <a:r>
              <a:t>    D --&gt;|質問して回答を得た場合| F[暗黙知DBの理由と条件を補う]</a:t>
            </a:r>
          </a:p>
          <a:p xmlns:a="http://schemas.openxmlformats.org/drawingml/2006/main">
            <a:r>
              <a:t>    E --&gt; F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提案手法は、濁度が高く水温が低い状態でのPAC再増量を検出したら、質問を減らす。水温が低くない場合や、水温の値を取得できない場合は理由を聞く。判断に関係のない別設備の測定値は比べない。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**条件が同じでも、理由が同じとは限らない。** そのため、条件に当てはまる場合も時々質問し、新しい理由を集める。質問をしなかった回には、過去の理由を今回の理由として記録しない。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新たな回答から「pHも見て判断した」と確認したら、次回からpHも確認する。濁度と水温だけが同じでも、pHの条件が違えば質問する。pHが分からない古い記録を、条件が一致した記録として扱わない。</a:t>
            </a:r>
          </a:p>
          <a:p xmlns:a="http://schemas.openxmlformats.org/drawingml/2006/main">
            <a:r>
              <a:t>条件一致時も時々質問し、新しい理由を取得する。質問を省いた回の理由は未確認として扱う。pHが不明な旧事例を一致扱いしない。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5．近い特許と、今回比較する点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案で比較するのは、**操作理由から判断項目と条件を得て、次回の操作時の状態と比べ、理由を聞く頻度を変え、新しい回答で条件を更新する一連の処理**である。暗黙知DBは、その情報を保存・参照するために使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以下は、これまで確認した「理由の取得と次回の質問制御」に関する比較である。理由の保存、条件の学習、質問の選択については既存技術があり、それらと本案の処理のつながりを具体的に比べる。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特許文献 | 確認した内容 | 本案との比較で残る点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[JP2020173683A](https://patents.google.com/patent/JP2020173683A/ja) | 操作時にコメント入力を求め、操作と一緒に保存・表示する。判断基準や理由にも触れている。 | 理由から条件を作り、次回の質問を減らす処理は、確認箇所では見つかっていない。 |</a:t>
            </a:r>
          </a:p>
          <a:p xmlns:a="http://schemas.openxmlformats.org/drawingml/2006/main">
            <a:r>
              <a:t>| [JP2025026446A](https://patents.google.com/patent/JP2025026446A/ja) | 監視データへの専門家の回答を集め、根拠が足りなければ質問する。専門家が見た判断項目も取得する。 | 後の実操作で、回答から得た項目の状態を比べ、理由を聞く回数を減らす処理までは特定していない。 |</a:t>
            </a:r>
          </a:p>
          <a:p xmlns:a="http://schemas.openxmlformats.org/drawingml/2006/main">
            <a:r>
              <a:t>| [JP7726786B2](https://patents.google.com/patent/JP7726786B2/ja) | プラントについて質問し、回答から支援情報を作る。評価理由を使って質問を修正・追加・削除する記載もある。 | 操作理由から得た監視項目を使い、次回の操作で理由を聞く頻度を変える処理までは特定していない。 |</a:t>
            </a:r>
          </a:p>
          <a:p xmlns:a="http://schemas.openxmlformats.org/drawingml/2006/main">
            <a:r>
              <a:t>| [JP3057355B2](https://patents.google.com/patent/JP3057355B2/ja) | 状態や操作を標準事例と比べ、モデルで操作理由を説明できるかを判定する。 | 運転員の回答から条件を作り、次回の理由質問を減らす処理は、確認箇所では見つかっていない。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確認範囲：JP2020173683Aの請求項1〜4・実施形態4、JP2025026446Aの請求項1・8・10〜14と関連本文、JP7726786B2の登録請求項1・2・6と関連本文、JP3057355B2の登録請求項1・2・4・5・本文【0025】。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「見つかっていない」は、確認した範囲での結果を指す。公開公報の記載と、登録された請求項の範囲は区別して確認する。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6．関連する技術と、特許としての検討点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理由を学ぶ技術、対話で条件を作る技術、必要な質問を選ぶ技術には、既存の研究や特許がある。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関連文献 | 既に示されていること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[US20220237504A1](https://patents.google.com/patent/US20220237504A1/en)／[US12182671B2](https://patents.google.com/patent/US12182671B2/en) | 人が重視した特徴とモデルの説明を比べ、学習や質問対象の選択に使う。 |</a:t>
            </a:r>
          </a:p>
          <a:p xmlns:a="http://schemas.openxmlformats.org/drawingml/2006/main">
            <a:r>
              <a:t>| [Active Learning++](https://arxiv.org/html/2009.04568) | 人が重視した特徴の順位とモデルの説明の一致度から、次に質問する対象を選ぶ。 |</a:t>
            </a:r>
          </a:p>
          <a:p xmlns:a="http://schemas.openxmlformats.org/drawingml/2006/main">
            <a:r>
              <a:t>| [PUMICE](https://arxiv.org/html/1909.00031) | 対話や実演から条件・閾値・値の取得方法を学び、再利用する。 |</a:t>
            </a:r>
          </a:p>
          <a:p xmlns:a="http://schemas.openxmlformats.org/drawingml/2006/main">
            <a:r>
              <a:t>| [US5944839A](https://patents.google.com/patent/US5944839A/en) | 観測データで事例を評価し、足りない情報を機械や利用者から得る。 |</a:t>
            </a:r>
          </a:p>
          <a:p xmlns:a="http://schemas.openxmlformats.org/drawingml/2006/main">
            <a:r>
              <a:t>| [US6701195B2](https://patents.google.com/patent/US6701195B2/en) | 関係するセンサだけを使い、過去の似た事例を探して予測する。 |</a:t>
            </a:r>
          </a:p>
          <a:p xmlns:a="http://schemas.openxmlformats.org/drawingml/2006/main">
            <a:r>
              <a:t>| [US20090307162A1](https://patents.google.com/patent/US20090307162A1/en) | 操作の実演から学び、不足情報を質問する。質問による利益と回答の負担も考慮する。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現時点で分かっていること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確認した主要文献の中では、本案の一連の処理とすべて一致する単一文献は特定していない。ただし、関連文献を網羅した調査ではなく、新規性が確定したわけではない。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さらに検討すること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既存の「理由の記録」「対話による条件学習」「質問対象の選択」を組み合わせれば、本案を作れるという指摘が考えられる。「理由を使って質問を改善する」という説明だけでは、違いが十分に伝わら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較すべき点は、**回答から判断条件を得る処理、その条件で次回の状態を比べる処理、質問頻度を変える処理、新回答で条件を更新する処理のつながり**である。例えば、回答でpHが判断材料に加わったとき、次回からpHの違いも質問判断に反映する。このつながりを既存技術と比べる必要があり、特許性が確認済みという意味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65df9c13e4a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da7ac2fef46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79bf6d2f34a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a7dbe0ee144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4dbb2505243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ed5c896cb74f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C53AEC-643F-40D9-8040-0320939D38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6D4403-AEF4-4910-9198-D1783591BC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5A0B24C-3F7A-455B-8F3C-46E4847D7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4B3C5D-D81D-495F-8532-0156A4FAE2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2EEDD2-AEE3-4F1A-BD70-230384C3BA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92FA23-BDB6-4620-8654-1CFD393933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AE162E-B43C-48B7-8AF7-9A7CBA4055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8DDBB7A-483D-4D72-BFC7-7A5F52D4D28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B07587-0ABC-4686-B09C-42FD017C3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F0DDA9-681B-4BE5-8899-D7B5598A3A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ee7015c93b4ac1" /><Relationship Type="http://schemas.openxmlformats.org/officeDocument/2006/relationships/slideLayout" Target="/ppt/slideLayouts/slideLayout1.xml" Id="R0fd48cdf62cf47a0" /><Relationship Type="http://schemas.openxmlformats.org/officeDocument/2006/relationships/slideLayout" Target="/ppt/slideLayouts/slideLayout2.xml" Id="Rf70603a25e1b440a" /><Relationship Type="http://schemas.openxmlformats.org/officeDocument/2006/relationships/slideLayout" Target="/ppt/slideLayouts/slideLayout3.xml" Id="R33a7bf026d0548da" /><Relationship Type="http://schemas.openxmlformats.org/officeDocument/2006/relationships/slideLayout" Target="/ppt/slideLayouts/slideLayout4.xml" Id="Ra9226d30aeac4399" /><Relationship Type="http://schemas.openxmlformats.org/officeDocument/2006/relationships/slideLayout" Target="/ppt/slideLayouts/slideLayout5.xml" Id="Reca159fcc2cd4670" /><Relationship Type="http://schemas.openxmlformats.org/officeDocument/2006/relationships/slideLayout" Target="/ppt/slideLayouts/slideLayout6.xml" Id="Rf426f25da5dc4b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d48cdf62cf47a0"/>
    <p:sldLayoutId xmlns:r="http://schemas.openxmlformats.org/officeDocument/2006/relationships" id="2147483650" r:id="Rf70603a25e1b440a"/>
    <p:sldLayoutId xmlns:r="http://schemas.openxmlformats.org/officeDocument/2006/relationships" id="2147483651" r:id="R33a7bf026d0548da"/>
    <p:sldLayoutId xmlns:r="http://schemas.openxmlformats.org/officeDocument/2006/relationships" id="2147483652" r:id="Ra9226d30aeac4399"/>
    <p:sldLayoutId xmlns:r="http://schemas.openxmlformats.org/officeDocument/2006/relationships" id="2147483653" r:id="Reca159fcc2cd4670"/>
    <p:sldLayoutId xmlns:r="http://schemas.openxmlformats.org/officeDocument/2006/relationships" id="2147483654" r:id="Rf426f25da5dc4b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366168539456e" /><Relationship Type="http://schemas.openxmlformats.org/officeDocument/2006/relationships/notesSlide" Target="/ppt/notesSlides/notesSlide1.xml" Id="R2716c162f39a4c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22401d41cd4671" /><Relationship Type="http://schemas.openxmlformats.org/officeDocument/2006/relationships/notesSlide" Target="/ppt/notesSlides/notesSlide2.xml" Id="Re7f268c2a6af40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ec9cd35f3e41e4" /><Relationship Type="http://schemas.openxmlformats.org/officeDocument/2006/relationships/notesSlide" Target="/ppt/notesSlides/notesSlide3.xml" Id="Rc163ce85075b42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03da24d5ac47d6" /><Relationship Type="http://schemas.openxmlformats.org/officeDocument/2006/relationships/notesSlide" Target="/ppt/notesSlides/notesSlide4.xml" Id="R4ee3fc80fbf640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89c04cc9e04bd6" /><Relationship Type="http://schemas.openxmlformats.org/officeDocument/2006/relationships/notesSlide" Target="/ppt/notesSlides/notesSlide5.xml" Id="R7158da2b85e245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47A35-3B04-4C07-9C36-0C7209630226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4691063" y="3390900"/>
            <a:ext cx="5691188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183B6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C1C5B-396B-4DA4-81C2-663146E0A2E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63000" y="28670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3B6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43A1F-2AE0-4E40-93DA-521FB6DF672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05500" y="28670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3B60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850C0-6596-4C8D-AA36-5E49BF9BF86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48000" y="28670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3B60"/>
            </a:solidFill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EA2A2-DBEA-4FED-949E-DC5B4962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rPr>
              <a:t>操作理由から判断条件を学び、次回の質問に反映する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C9DD0-FE5D-4174-BE3E-CFEF15BE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83B6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D2AAA-154E-4C41-BC8E-7347AC2A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defPPr>
            <a:lvl1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1pPr>
            <a:lvl2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2pPr>
            <a:lvl3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3pPr>
            <a:lvl4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4pPr>
            <a:lvl5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5pPr>
            <a:lvl6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6pPr>
            <a:lvl7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7pPr>
            <a:lvl8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8pPr>
            <a:lvl9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803B7-0762-475C-93C0-D8ED1896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6207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defPPr>
            <a:lvl1pPr>
              <a:defRPr sz="21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1pPr>
            <a:lvl2pPr>
              <a:defRPr sz="21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2pPr>
            <a:lvl3pPr>
              <a:defRPr sz="21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3pPr>
            <a:lvl4pPr>
              <a:defRPr sz="21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4pPr>
            <a:lvl5pPr>
              <a:defRPr sz="21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5pPr>
            <a:lvl6pPr>
              <a:defRPr sz="21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6pPr>
            <a:lvl7pPr>
              <a:defRPr sz="21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7pPr>
            <a:lvl8pPr>
              <a:defRPr sz="21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8pPr>
            <a:lvl9pPr>
              <a:defRPr sz="21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提案手法は、理由を聞いた結果を使い、次回の質問の仕方を変える。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02A5F-B625-4233-B322-2CDCF043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3150"/>
            <a:ext cx="2428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B6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操作した理由を</a:t>
            </a:r>
          </a:p>
          <a:p xmlns:a="http://schemas.openxmlformats.org/drawingml/2006/main">
            <a: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運転員に聞く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B74AF-6640-40D6-B6BB-F5503259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43150"/>
            <a:ext cx="2428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B6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回答から判断項目と</a:t>
            </a:r>
          </a:p>
          <a:p xmlns:a="http://schemas.openxmlformats.org/drawingml/2006/main">
            <a: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条件を得る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65095-8D98-4EBD-A592-52559C5B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43150"/>
            <a:ext cx="2428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B6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次回の状態と比べ</a:t>
            </a:r>
          </a:p>
          <a:p xmlns:a="http://schemas.openxmlformats.org/drawingml/2006/main">
            <a: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質問するか判断する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1F988-5831-4685-AF6F-6F5C0B50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431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B6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新しい回答で</a:t>
            </a:r>
          </a:p>
          <a:p xmlns:a="http://schemas.openxmlformats.org/drawingml/2006/main">
            <a: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判断条件を補う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EAC94-901C-473A-83BA-EFA3C4D5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defPPr>
            <a:lvl1pPr>
              <a:defRPr sz="2100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1pPr>
            <a:lvl2pPr>
              <a:defRPr sz="2100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2pPr>
            <a:lvl3pPr>
              <a:defRPr sz="2100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3pPr>
            <a:lvl4pPr>
              <a:defRPr sz="2100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4pPr>
            <a:lvl5pPr>
              <a:defRPr sz="2100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5pPr>
            <a:lvl6pPr>
              <a:defRPr sz="2100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6pPr>
            <a:lvl7pPr>
              <a:defRPr sz="2100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7pPr>
            <a:lvl8pPr>
              <a:defRPr sz="2100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8pPr>
            <a:lvl9pPr>
              <a:defRPr sz="2100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既に理由を聞いた条件では質問を減らす。異なる条件では新しい理由を聞く。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E0230-F096-4255-BC65-98135F8B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292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defPPr>
            <a:lvl1pPr>
              <a:defRPr sz="19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1pPr>
            <a:lvl2pPr>
              <a:defRPr sz="19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2pPr>
            <a:lvl3pPr>
              <a:defRPr sz="19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3pPr>
            <a:lvl4pPr>
              <a:defRPr sz="19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4pPr>
            <a:lvl5pPr>
              <a:defRPr sz="19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5pPr>
            <a:lvl6pPr>
              <a:defRPr sz="19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6pPr>
            <a:lvl7pPr>
              <a:defRPr sz="19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7pPr>
            <a:lvl8pPr>
              <a:defRPr sz="19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8pPr>
            <a:lvl9pPr>
              <a:defRPr sz="19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26171"/>
                </a:solidFill>
                <a:latin typeface="Yu Gothic"/>
                <a:ea typeface="Yu Gothic"/>
                <a:cs typeface="Yu Gothic"/>
              </a:rPr>
              <a:t>暗黙知DB：操作・理由・判断条件を保存し、この流れを支える構成部品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E4379-D8CD-4FA8-9A46-18D6C3C9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98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defPPr>
            <a:lvl1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1pPr>
            <a:lvl2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2pPr>
            <a:lvl3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3pPr>
            <a:lvl4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4pPr>
            <a:lvl5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5pPr>
            <a:lvl6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6pPr>
            <a:lvl7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7pPr>
            <a:lvl8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8pPr>
            <a:lvl9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rPr>
              <a:t>出願検討資料　2026年10月19日</a:t>
            </a:r>
          </a:p>
        </p:txBody>
      </p:sp>
    </p:spTree>
    <p:extLst>
      <p:ext uri="{BB962C8B-B14F-4D97-AF65-F5344CB8AC3E}">
        <p14:creationId xmlns:p14="http://schemas.microsoft.com/office/powerpoint/2010/main" val="10334551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FC3BE-342C-4FE8-9799-427EBFEA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rPr>
              <a:t>PAC増量の理由から、判断条件を得る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003C0-8C4B-42DB-8D21-6037C3EA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83B6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DADA5-A164-4A47-A13B-A741EA4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defPPr>
            <a:lvl1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1pPr>
            <a:lvl2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2pPr>
            <a:lvl3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3pPr>
            <a:lvl4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4pPr>
            <a:lvl5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5pPr>
            <a:lvl6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6pPr>
            <a:lvl7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7pPr>
            <a:lvl8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8pPr>
            <a:lvl9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66F52-BF6A-4362-8206-2B264817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質問「今回、PACの注入量を増やした理由は何ですか」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7DCF9-1909-4725-B82F-7E238B82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回答「原水の濁りが強く、水温も低かったから」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CDDFC-2364-45B9-95AA-22C4B6F7DA0F}"/>
              </a:ext>
            </a:extLst>
          </p:cNvPr>
          <p:cNvGraphicFramePr/>
          <p:nvPr/>
        </p:nvGraphicFramePr>
        <p:xfrm>
          <a:off xmlns:a="http://schemas.openxmlformats.org/drawingml/2006/main" x="571500" y="2705100"/>
          <a:ext xmlns:a="http://schemas.openxmlformats.org/drawingml/2006/main" cx="11049000" cy="2686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810500"/>
              </a:tblGrid>
              <a:tr h="53721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暗黙知DBに保存する情報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BC6D0"/>
                      </a:solidFill>
                      <a:prstDash val="solid"/>
                    </a:lnL>
                    <a:lnR w="9525">
                      <a:solidFill>
                        <a:srgbClr val="BBC6D0"/>
                      </a:solidFill>
                      <a:prstDash val="solid"/>
                    </a:lnR>
                    <a:lnT w="9525">
                      <a:solidFill>
                        <a:srgbClr val="BBC6D0"/>
                      </a:solidFill>
                      <a:prstDash val="solid"/>
                    </a:lnT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183B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この回答から得られる内容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T w="9525">
                      <a:solidFill>
                        <a:srgbClr val="BBC6D0"/>
                      </a:solidFill>
                      <a:prstDash val="solid"/>
                    </a:lnT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183B6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操作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BC6D0"/>
                      </a:solidFill>
                      <a:prstDash val="solid"/>
                    </a:lnL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A系列のPAC注入量を増やす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理由の原文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BC6D0"/>
                      </a:solidFill>
                      <a:prstDash val="solid"/>
                    </a:lnL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原水の濁りが強く、水温も低かったから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判断に使った項目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BC6D0"/>
                      </a:solidFill>
                      <a:prstDash val="solid"/>
                    </a:lnL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A系列の原水濁度、水温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判断条件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BC6D0"/>
                      </a:solidFill>
                      <a:prstDash val="solid"/>
                    </a:lnL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原水濁度が高い、かつ水温が低い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A3823-8677-48DA-B303-684CD4CB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483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defPPr>
            <a:lvl1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1pPr>
            <a:lvl2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2pPr>
            <a:lvl3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3pPr>
            <a:lvl4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4pPr>
            <a:lvl5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5pPr>
            <a:lvl6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6pPr>
            <a:lvl7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7pPr>
            <a:lvl8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8pPr>
            <a:lvl9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「高い」「低い」には施設の基準を使う。曖昧な部分は追加で確認する。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AD176-6F90-488F-BF31-D69261C0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defPPr>
            <a:lvl1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1pPr>
            <a:lvl2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2pPr>
            <a:lvl3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3pPr>
            <a:lvl4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4pPr>
            <a:lvl5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5pPr>
            <a:lvl6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6pPr>
            <a:lvl7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7pPr>
            <a:lvl8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8pPr>
            <a:lvl9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rPr>
              <a:t>PAC：水中の汚れを集める凝集剤</a:t>
            </a:r>
          </a:p>
        </p:txBody>
      </p:sp>
    </p:spTree>
    <p:extLst>
      <p:ext uri="{BB962C8B-B14F-4D97-AF65-F5344CB8AC3E}">
        <p14:creationId xmlns:p14="http://schemas.microsoft.com/office/powerpoint/2010/main" val="11721729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B04F4-E746-46D1-BDAF-A48432122D7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191500" y="1905000"/>
            <a:ext cx="2876550" cy="34004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183B60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742A5-5DDD-4045-8DFA-2A9AE4FC881A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90938" y="4162425"/>
            <a:ext cx="119063" cy="11430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183B6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66E2B-89B4-44DF-B94E-AFF34E234F4E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3"/>
          </p:cNvCxnSpPr>
          <p:nvPr/>
        </p:nvCxnSpPr>
        <p:spPr>
          <a:xfrm xmlns:a="http://schemas.openxmlformats.org/drawingml/2006/main">
            <a:off x="9072563" y="4162425"/>
            <a:ext cx="681038" cy="11430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183B6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1C59A-391A-4DB5-9841-2037CE63672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191500" y="1905000"/>
            <a:ext cx="881063" cy="130492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183B6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A8959-4778-4B73-89F6-6CC4AB5907C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3690938" y="2333625"/>
            <a:ext cx="2619375" cy="876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83B60"/>
            </a:solidFill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711A3-9EC5-477E-A6DA-CF057EB59E0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19500" y="19050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3B60"/>
            </a:solidFill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291E2-4EA5-47C7-A30F-C77F4EFB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rPr>
              <a:t>次回の状態で質問を判断し、新しい回答で条件を補う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41E44-E2D6-4387-90CA-DCCD33AD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83B6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00C36-32D7-4938-9CFB-8E9B19AF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defPPr>
            <a:lvl1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1pPr>
            <a:lvl2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2pPr>
            <a:lvl3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3pPr>
            <a:lvl4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4pPr>
            <a:lvl5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5pPr>
            <a:lvl6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6pPr>
            <a:lvl7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7pPr>
            <a:lvl8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8pPr>
            <a:lvl9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9ABDA-79C9-47DE-B5EF-EC80637F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304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B6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同じ設備・同じ方向の</a:t>
            </a:r>
          </a:p>
          <a:p xmlns:a="http://schemas.openxmlformats.org/drawingml/2006/main">
            <a: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PAC増量を検出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D6234-2F21-4799-A580-6E1B537F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3762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B6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操作時点の濁度・水温を</a:t>
            </a:r>
          </a:p>
          <a:p xmlns:a="http://schemas.openxmlformats.org/drawingml/2006/main">
            <a: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保存した判断条件と比較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4EC44-2E02-4634-A575-BA56CBAE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09925"/>
            <a:ext cx="3571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B6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条件に当てはまる</a:t>
            </a:r>
          </a:p>
          <a:p xmlns:a="http://schemas.openxmlformats.org/drawingml/2006/main">
            <a: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理由を聞く回数を減らす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3B0B3-1BF9-4DF0-816E-D84C397C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09925"/>
            <a:ext cx="37623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B6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条件が違う・値が不明</a:t>
            </a:r>
          </a:p>
          <a:p xmlns:a="http://schemas.openxmlformats.org/drawingml/2006/main">
            <a: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今回の理由を聞く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8E420-7273-40E6-82AB-D0467E2B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76800"/>
            <a:ext cx="571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B6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回答から新しい判断材料を得て</a:t>
            </a:r>
          </a:p>
          <a:p xmlns:a="http://schemas.openxmlformats.org/drawingml/2006/main">
            <a:pPr algn="ctr">
              <a:defRPr sz="1875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75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暗黙知DBの項目・条件を追加／補完する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EE9E9-EABD-41BC-A9F7-22D254D5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910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defPPr>
            <a:lvl1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1pPr>
            <a:lvl2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2pPr>
            <a:lvl3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3pPr>
            <a:lvl4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4pPr>
            <a:lvl5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5pPr>
            <a:lvl6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6pPr>
            <a:lvl7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7pPr>
            <a:lvl8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8pPr>
            <a:lvl9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rPr>
              <a:t>回答を得た場合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0978E3-DD60-4C7B-A0F4-7EC15A32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defPPr>
            <a:lvl1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1pPr>
            <a:lvl2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2pPr>
            <a:lvl3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3pPr>
            <a:lvl4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4pPr>
            <a:lvl5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5pPr>
            <a:lvl6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6pPr>
            <a:lvl7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7pPr>
            <a:lvl8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8pPr>
            <a:lvl9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例：回答からpHを判断材料として得たら、次回の質問判断にpHの違いも使う。</a:t>
            </a:r>
          </a:p>
        </p:txBody>
      </p:sp>
    </p:spTree>
    <p:extLst>
      <p:ext uri="{BB962C8B-B14F-4D97-AF65-F5344CB8AC3E}">
        <p14:creationId xmlns:p14="http://schemas.microsoft.com/office/powerpoint/2010/main" val="266442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77106-B188-4A07-9272-92BCCF3F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rPr>
              <a:t>近い特許との比較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CF486-ECDC-492C-8BC4-FB9C15B7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83B6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9A2DC-4C54-4320-8750-A647F6DA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defPPr>
            <a:lvl1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1pPr>
            <a:lvl2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2pPr>
            <a:lvl3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3pPr>
            <a:lvl4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4pPr>
            <a:lvl5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5pPr>
            <a:lvl6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6pPr>
            <a:lvl7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7pPr>
            <a:lvl8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8pPr>
            <a:lvl9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E4FD6-2D45-408C-A8E5-C3F6402CF6D8}"/>
              </a:ext>
            </a:extLst>
          </p:cNvPr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095750"/>
                <a:gridCol w="4476750"/>
              </a:tblGrid>
              <a:tr h="809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文献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BC6D0"/>
                      </a:solidFill>
                      <a:prstDash val="solid"/>
                    </a:lnL>
                    <a:lnR w="9525">
                      <a:solidFill>
                        <a:srgbClr val="BBC6D0"/>
                      </a:solidFill>
                      <a:prstDash val="solid"/>
                    </a:lnR>
                    <a:lnT w="9525">
                      <a:solidFill>
                        <a:srgbClr val="BBC6D0"/>
                      </a:solidFill>
                      <a:prstDash val="solid"/>
                    </a:lnT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183B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確認した技術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T w="9525">
                      <a:solidFill>
                        <a:srgbClr val="BBC6D0"/>
                      </a:solidFill>
                      <a:prstDash val="solid"/>
                    </a:lnT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183B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本案との比較で残る点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T w="9525">
                      <a:solidFill>
                        <a:srgbClr val="BBC6D0"/>
                      </a:solidFill>
                      <a:prstDash val="solid"/>
                    </a:lnT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183B60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JP2020173683A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BC6D0"/>
                      </a:solidFill>
                      <a:prstDash val="solid"/>
                    </a:lnL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操作時にコメントを求め、</a:t>
                      </a:r>
                    </a:p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操作と関連付けて保存・表示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理由から条件を作り、次回の</a:t>
                      </a:r>
                    </a:p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質問を減らす処理は未確認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JP2025026446A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BC6D0"/>
                      </a:solidFill>
                      <a:prstDash val="solid"/>
                    </a:lnL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専門家の判断項目を取得し、</a:t>
                      </a:r>
                    </a:p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根拠が足りなければ質問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後続の実操作で条件を比較し、</a:t>
                      </a:r>
                    </a:p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理由質問を減らす連結は未特定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JP7726786B2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BC6D0"/>
                      </a:solidFill>
                      <a:prstDash val="solid"/>
                    </a:lnL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プラントについて質問し、</a:t>
                      </a:r>
                    </a:p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評価理由で質問を修正・追加・削除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理由から得た監視項目で、次回の</a:t>
                      </a:r>
                    </a:p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理由質問頻度を変える連結は未特定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JP3057355B2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BC6D0"/>
                      </a:solidFill>
                      <a:prstDash val="solid"/>
                    </a:lnL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状態・操作を標準事例と比べ、</a:t>
                      </a:r>
                    </a:p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モデルで操作理由を説明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対話回答から条件を作り、次回の</a:t>
                      </a:r>
                    </a:p>
                    <a:p>
                      <a:r>
                        <a:rPr sz="172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理由質問を減らす処理は未確認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9B1F6-9108-42EC-ABEC-CAF28AB7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86425"/>
            <a:ext cx="1100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比較：理由の取得、条件の抽出、次回の状態比較、質問頻度の変更、条件更新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9906F-2E26-4DAD-86E6-F7ABF248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62675"/>
            <a:ext cx="11001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defPPr>
            <a:lvl1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1pPr>
            <a:lvl2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2pPr>
            <a:lvl3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3pPr>
            <a:lvl4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4pPr>
            <a:lvl5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5pPr>
            <a:lvl6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6pPr>
            <a:lvl7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7pPr>
            <a:lvl8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8pPr>
            <a:lvl9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rPr>
              <a:t>「未確認・未特定」は既存の調査範囲での結果。新規性の確定を意味しない。</a:t>
            </a:r>
          </a:p>
        </p:txBody>
      </p:sp>
    </p:spTree>
    <p:extLst>
      <p:ext uri="{BB962C8B-B14F-4D97-AF65-F5344CB8AC3E}">
        <p14:creationId xmlns:p14="http://schemas.microsoft.com/office/powerpoint/2010/main" val="16253348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DDE2D-30E0-4705-A15A-136084F0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B60"/>
                </a:solidFill>
                <a:latin typeface="Yu Gothic"/>
                <a:ea typeface="Yu Gothic"/>
                <a:cs typeface="Yu Gothic"/>
              </a:rPr>
              <a:t>関連技術と、特許としての検討点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C02C4-4D13-4C15-A69D-F9D10A04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83B6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E16F6-0A50-4CB2-AFA5-2B16AF28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defPPr>
            <a:lvl1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1pPr>
            <a:lvl2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2pPr>
            <a:lvl3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3pPr>
            <a:lvl4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4pPr>
            <a:lvl5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5pPr>
            <a:lvl6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6pPr>
            <a:lvl7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7pPr>
            <a:lvl8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8pPr>
            <a:lvl9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ADDE5-3440-41A9-B8DB-F5D0832A4988}"/>
              </a:ext>
            </a:extLst>
          </p:cNvPr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6667500"/>
              </a:tblGrid>
              <a:tr h="454479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文献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BC6D0"/>
                      </a:solidFill>
                      <a:prstDash val="solid"/>
                    </a:lnL>
                    <a:lnR w="9525">
                      <a:solidFill>
                        <a:srgbClr val="BBC6D0"/>
                      </a:solidFill>
                      <a:prstDash val="solid"/>
                    </a:lnR>
                    <a:lnT w="9525">
                      <a:solidFill>
                        <a:srgbClr val="BBC6D0"/>
                      </a:solidFill>
                      <a:prstDash val="solid"/>
                    </a:lnT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183B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既に示されていること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T w="9525">
                      <a:solidFill>
                        <a:srgbClr val="BBC6D0"/>
                      </a:solidFill>
                      <a:prstDash val="solid"/>
                    </a:lnT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183B60"/>
                    </a:solidFill>
                  </a:tcPr>
                </a:tc>
              </a:tr>
              <a:tr h="45447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US20220237504A1 / US12182671B2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BC6D0"/>
                      </a:solidFill>
                      <a:prstDash val="solid"/>
                    </a:lnL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人の特徴評価とモデルの説明を、学習・質問選択に使う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47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Active Learning++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BC6D0"/>
                      </a:solidFill>
                      <a:prstDash val="solid"/>
                    </a:lnL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人の特徴順位とモデル説明の一致度で質問対象を選ぶ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47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PUMICE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BC6D0"/>
                      </a:solidFill>
                      <a:prstDash val="solid"/>
                    </a:lnL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対話・実演から条件や閾値、値の取得方法を学ぶ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47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US5944839A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BC6D0"/>
                      </a:solidFill>
                      <a:prstDash val="solid"/>
                    </a:lnL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事例評価で不足する情報を機械や利用者から得る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47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US6701195B2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BC6D0"/>
                      </a:solidFill>
                      <a:prstDash val="solid"/>
                    </a:lnL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関連センサを使い、似た過去事例を検索・予測する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4479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US20090307162A1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BBC6D0"/>
                      </a:solidFill>
                      <a:prstDash val="solid"/>
                    </a:lnL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2D3D"/>
                          </a:solidFill>
                          <a:latin typeface="Yu Gothic"/>
                          <a:ea typeface="Yu Gothic"/>
                          <a:cs typeface="Yu Gothic"/>
                        </a:rPr>
                        <a:t>操作実演から学び、質問の利益と回答負担を考慮する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BBC6D0"/>
                      </a:solidFill>
                      <a:prstDash val="solid"/>
                    </a:lnR>
                    <a:lnB w="9525">
                      <a:solidFill>
                        <a:srgbClr val="BBC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63CD3-1CA4-48CD-A7D4-998FDAFD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defPPr>
            <a:lvl1pPr>
              <a:defRPr sz="21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1pPr>
            <a:lvl2pPr>
              <a:defRPr sz="21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2pPr>
            <a:lvl3pPr>
              <a:defRPr sz="21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3pPr>
            <a:lvl4pPr>
              <a:defRPr sz="21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4pPr>
            <a:lvl5pPr>
              <a:defRPr sz="21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5pPr>
            <a:lvl6pPr>
              <a:defRPr sz="21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6pPr>
            <a:lvl7pPr>
              <a:defRPr sz="21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7pPr>
            <a:lvl8pPr>
              <a:defRPr sz="21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8pPr>
            <a:lvl9pPr>
              <a:defRPr sz="21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3B6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83B60"/>
                </a:solidFill>
                <a:latin typeface="Yu Gothic"/>
                <a:ea typeface="Yu Gothic"/>
                <a:cs typeface="Yu Gothic"/>
              </a:rPr>
              <a:t>検討の焦点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9BF19-F516-4689-991F-BA820BFE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defPPr>
            <a:lvl1pPr>
              <a:defRPr sz="195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1pPr>
            <a:lvl2pPr>
              <a:defRPr sz="195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2pPr>
            <a:lvl3pPr>
              <a:defRPr sz="195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3pPr>
            <a:lvl4pPr>
              <a:defRPr sz="195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4pPr>
            <a:lvl5pPr>
              <a:defRPr sz="195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5pPr>
            <a:lvl6pPr>
              <a:defRPr sz="195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6pPr>
            <a:lvl7pPr>
              <a:defRPr sz="195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7pPr>
            <a:lvl8pPr>
              <a:defRPr sz="195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8pPr>
            <a:lvl9pPr>
              <a:defRPr sz="195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提案手法は、回答から得た条件を使って次回の質問判断を変え、条件を更新する。</a:t>
            </a:r>
          </a:p>
          <a:p xmlns:a="http://schemas.openxmlformats.org/drawingml/2006/main">
            <a:pPr>
              <a:defRPr sz="1950" b="0">
                <a:solidFill>
                  <a:srgbClr val="202D3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02D3D"/>
                </a:solidFill>
                <a:latin typeface="Yu Gothic"/>
                <a:ea typeface="Yu Gothic"/>
                <a:cs typeface="Yu Gothic"/>
              </a:rPr>
              <a:t>この一連の処理を、既存の理由記録・条件学習・質問選択と具体的に比較する。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C1B19-8322-4F0B-83FE-529CC500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95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defPPr>
            <a:lvl1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1pPr>
            <a:lvl2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2pPr>
            <a:lvl3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3pPr>
            <a:lvl4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4pPr>
            <a:lvl5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5pPr>
            <a:lvl6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6pPr>
            <a:lvl7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7pPr>
            <a:lvl8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8pPr>
            <a:lvl9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26171"/>
                </a:solidFill>
                <a:latin typeface="Yu Gothic"/>
                <a:ea typeface="Yu Gothic"/>
                <a:cs typeface="Yu Gothic"/>
              </a:rPr>
              <a:t>一致する単一文献は主要調査範囲で未特定。網羅調査と進歩性の検討は継続が必要。</a:t>
            </a:r>
          </a:p>
        </p:txBody>
      </p:sp>
    </p:spTree>
    <p:extLst>
      <p:ext uri="{BB962C8B-B14F-4D97-AF65-F5344CB8AC3E}">
        <p14:creationId xmlns:p14="http://schemas.microsoft.com/office/powerpoint/2010/main" val="1800790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2026-10-19T08:02:33.8040000Z</dcterms:created>
  <dcterms:modified xsi:type="dcterms:W3CDTF">2026-10-19T08:02:33.8040000Z</dcterms:modified>
</coreProperties>
</file>